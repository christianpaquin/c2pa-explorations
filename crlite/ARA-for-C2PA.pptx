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" y="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alibri"/>
              </a:rPr>
              <a:t>Aggregated Revocation Artifact</a:t>
            </a:r>
          </a:p>
          <a:p>
            <a:r>
              <a:rPr sz="4800" b="1" i="0">
                <a:solidFill>
                  <a:srgbClr val="FFFFFF"/>
                </a:solidFill>
                <a:latin typeface="Calibri"/>
              </a:rPr>
              <a:t>(ARA) for C2PA</a:t>
            </a:r>
          </a:p>
          <a:p>
            <a:pPr>
              <a:spcBef>
                <a:spcPts val="800"/>
              </a:spcBef>
            </a:pPr>
            <a:r>
              <a:rPr sz="2200" b="0" i="0">
                <a:solidFill>
                  <a:srgbClr val="2DA09C"/>
                </a:solidFill>
                <a:latin typeface="Calibri"/>
              </a:rPr>
              <a:t>Offline, signed certificate-revocation for the C2PA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00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C7D0DD"/>
                </a:solidFill>
                <a:latin typeface="Calibri"/>
              </a:rPr>
              <a:t>A CRLite-inspired alternative to per-signature OCSP stapling  (formerly “CRLite for C2PA”)</a:t>
            </a:r>
          </a:p>
          <a:p>
            <a:pPr>
              <a:spcBef>
                <a:spcPts val="140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Christian Paquin  ·  Microsoft</a:t>
            </a:r>
          </a:p>
          <a:p>
            <a:r>
              <a:rPr sz="1300" b="0" i="0">
                <a:solidFill>
                  <a:srgbClr val="9FADC0"/>
                </a:solidFill>
                <a:latin typeface="Calibri"/>
              </a:rPr>
              <a:t>C2PA Consortium  ·  draft 0.2  ·  design + proof-of-concept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UPDATE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What changed in draft 0.2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16223A"/>
                </a:solidFill>
                <a:latin typeface="Calibri"/>
              </a:rPr>
              <a:t>Renamed CRLite-for-C2PA → Aggregated Revocation Artifact (ARA) — it isn't literally CRLite (no Bloom/Ribbon filter; date-aware; trust-list-bounded).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16223A"/>
                </a:solidFill>
                <a:latin typeface="Calibri"/>
              </a:rPr>
              <a:t>Added the OCSP-deprecation motivation — the WebPKI is actively retiring OCSP in favour of CRLs.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16223A"/>
                </a:solidFill>
                <a:latin typeface="Calibri"/>
              </a:rPr>
              <a:t>Added a coverage set for backward compatibility — lets legacy OCSP stapling and ARA coexist, and generalizes to other trust lists.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16223A"/>
                </a:solidFill>
                <a:latin typeface="Calibri"/>
              </a:rPr>
              <a:t>Added a persistence / retention model — records are append-mostly; active segment + immutable archive.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16223A"/>
                </a:solidFill>
                <a:latin typeface="Calibri"/>
              </a:rPr>
              <a:t>Made CBOR + COSE_Sign1 the normative format (JSON demoted to a debug appendix).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16223A"/>
                </a:solidFill>
                <a:latin typeface="Calibri"/>
              </a:rPr>
              <a:t>Richer CRLite background, with real-world scale &amp; deployment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The cost of per-signature OCSP stapling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16223A"/>
                </a:solidFill>
                <a:latin typeface="Calibri"/>
              </a:rPr>
              <a:t>Today's spec (C2PA 2.4 core) requires a stapled OCSP response in every COSE signature, and disallows CRLs.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6223A"/>
                </a:solidFill>
                <a:latin typeface="Calibri"/>
              </a:rPr>
              <a:t>Signer-side network dependency — every signing op must reach the CA's OCSP responder.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5A6678"/>
                </a:solidFill>
                <a:latin typeface="Calibri"/>
              </a:rPr>
              <a:t>–  Complicates offline / batch signing; ties the signer to CA availability.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6223A"/>
                </a:solidFill>
                <a:latin typeface="Calibri"/>
              </a:rPr>
              <a:t>Per-manifest overhead — a ~1–2 KB OCSP response rides in every manifest.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5A6678"/>
                </a:solidFill>
                <a:latin typeface="Calibri"/>
              </a:rPr>
              <a:t>–  Adds up fast for platforms producing many small assets.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6223A"/>
                </a:solidFill>
                <a:latin typeface="Calibri"/>
              </a:rPr>
              <a:t>Validator privacy leak — the OCSP-refresh path leaks validation activity to the issuing CA.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6223A"/>
                </a:solidFill>
                <a:latin typeface="Calibri"/>
              </a:rPr>
              <a:t>No global revocation view — no single artifact a verifier can audit for “what is revoked across C2PA?”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…and the WebPKI is deprecating OCSP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16223A"/>
                </a:solidFill>
                <a:latin typeface="Calibri"/>
              </a:rPr>
              <a:t>CA/Browser Forum Ballot SC-063v4 (Aug 2023): made OCSP optional for public CAs and CRLs mandatory — the formal pivot away from OCSP.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16223A"/>
                </a:solidFill>
                <a:latin typeface="Calibri"/>
              </a:rPr>
              <a:t>Let's Encrypt executed it: announced Dec 2024; dropped OCSP URLs 7 May 2025; shut OCSP responders off entirely 6 Aug 2025.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6223A"/>
                </a:solidFill>
                <a:latin typeface="Calibri"/>
              </a:rPr>
              <a:t>Browsers are following: Firefox disabled OCSP querying in v142 (Aug 2025).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6223A"/>
                </a:solidFill>
                <a:latin typeface="Calibri"/>
              </a:rPr>
              <a:t>Stated reasons: the responder learns what a relying party is validating (privacy), plus the operational cost of running OCSP.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434840"/>
            <a:ext cx="10698480" cy="150876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590288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E87A2D"/>
                </a:solidFill>
                <a:latin typeface="Calibri"/>
              </a:rPr>
              <a:t>Structural risk for C2PA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spec mandates the mechanism the ecosystem is dropping (OCSP) and disallows the one it is standardizing on (CRLs). Signers may soon be unable to obtain a staple at all. ARA aligns C2PA with where the WebPKI is heading.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Borrow the CRLite idea — C2PA is a friendlier setting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16223A"/>
                </a:solidFill>
                <a:latin typeface="Calibri"/>
              </a:rPr>
              <a:t>CRLite (Mozilla, WebPKI): centrally aggregate all CA CRLs into a compact artifact that clients ship and consult offline.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16223A"/>
                </a:solidFill>
                <a:latin typeface="Calibri"/>
              </a:rPr>
              <a:t>ARA: replace per-signature OCSP with one periodically-refreshed, signed revocation artifact, published alongside a trust list.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6223A"/>
                </a:solidFill>
                <a:latin typeface="Calibri"/>
              </a:rPr>
              <a:t>Validators consult the local artifact at validation time — no network call to any 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77639"/>
            <a:ext cx="10698480" cy="20574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DA09C"/>
                </a:solidFill>
                <a:latin typeface="Calibri"/>
              </a:rPr>
              <a:t>Why C2PA fits better than the WebPKI</a:t>
            </a:r>
          </a:p>
          <a:p>
            <a:pPr>
              <a:spcBef>
                <a:spcPts val="700"/>
              </a:spcBef>
            </a:pPr>
            <a:r>
              <a:rPr sz="1500" b="1" i="0">
                <a:solidFill>
                  <a:srgbClr val="E87A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6223A"/>
                </a:solidFill>
                <a:latin typeface="Calibri"/>
              </a:rPr>
              <a:t>Bounded universe — the cert set is defined by the trust list (anchors in the tens, EE certs in the low thousands), orders of magnitude smaller than the WebPKI.</a:t>
            </a:r>
          </a:p>
          <a:p>
            <a:pPr>
              <a:spcBef>
                <a:spcPts val="700"/>
              </a:spcBef>
            </a:pPr>
            <a:r>
              <a:rPr sz="1500" b="1" i="0">
                <a:solidFill>
                  <a:srgbClr val="E87A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6223A"/>
                </a:solidFill>
                <a:latin typeface="Calibri"/>
              </a:rPr>
              <a:t>Natural publishing authority — the conformance program already governs and signs the trust list.</a:t>
            </a:r>
          </a:p>
          <a:p>
            <a:pPr>
              <a:spcBef>
                <a:spcPts val="700"/>
              </a:spcBef>
            </a:pPr>
            <a:r>
              <a:rPr sz="1500" b="1" i="0">
                <a:solidFill>
                  <a:srgbClr val="E87A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6223A"/>
                </a:solidFill>
                <a:latin typeface="Calibri"/>
              </a:rPr>
              <a:t>Not literally CRLite — at this scale a flat deduplicated list fits in tens of KB; cascading-Bloom / Clubcard compression is deferred future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CRLite in the wild — scale &amp;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6223A"/>
                </a:solidFill>
                <a:latin typeface="Calibri"/>
              </a:rPr>
              <a:t>Mozilla CRLite (2017 IEEE S&amp;P paper): aggregate every WebPKI revocation — discovered via Certificate Transparency — into one compact, offline filter.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16223A"/>
                </a:solidFill>
                <a:latin typeface="Calibri"/>
              </a:rPr>
              <a:t>Coverage: ~4 million revoked certs — effectively all WebPKI revocations.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16223A"/>
                </a:solidFill>
                <a:latin typeface="Calibri"/>
              </a:rPr>
              <a:t>Size: ~4 MB snapshot every 45 days + deltas → ~300 kB/day; Firefox refreshes every 12 h.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16223A"/>
                </a:solidFill>
                <a:latin typeface="Calibri"/>
              </a:rPr>
              <a:t>Clubcard (2025): swapped the Bloom-filter cascade for partitioned Ribbon filters — ~1000× more bandwidth-efficient than raw CRLs; ~half of Chrome's CRLSets while covering all revocations.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16223A"/>
                </a:solidFill>
                <a:latin typeface="Calibri"/>
              </a:rPr>
              <a:t>Deployment: shipped to all Firefox desktop in v137 (early 2025); OCSP off in v142. Essentially Firefox-only so far. Chrome's CRLSets are the closest analog but ship only a curated subset.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51389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87A2D"/>
                </a:solidFill>
                <a:latin typeface="Calibri"/>
              </a:rPr>
              <a:t>Takeaway:  </a:t>
            </a:r>
            <a:r>
              <a:rPr sz="1500" b="0" i="0">
                <a:solidFill>
                  <a:srgbClr val="16223A"/>
                </a:solidFill>
                <a:latin typeface="Calibri"/>
              </a:rPr>
              <a:t>the WebPKI needs Ribbon-filter compression for ~4M revocations in MBs. C2PA needs tens of KB — so ARA borrows the concept, not the compression machinery.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3200400" cy="228600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1 · Aggregator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Reads trust list anchors (+ TSA list)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Follows each cert's CRL Distribution Point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Downloads &amp; dedups CRLs by (issuer SKI, serial)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Records revocation date + which issuers it covers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194560"/>
            <a:ext cx="3200400" cy="2286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2359152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2 · Signed artifact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One file, published at a well-known URL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CBOR + COSE_Sign1 (normative); coverage set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Entries tagged by scope: anchors | tsa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next_update freshness window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194560"/>
            <a:ext cx="3200400" cy="228600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2359152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3 · Validator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Fetches artifact on trust-list refresh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Verifies signature + freshness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Selects ARA by coverage set, looks up at T_sig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No OCSP call for covered issuers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9080" y="3108960"/>
            <a:ext cx="384048" cy="457200"/>
          </a:xfrm>
          <a:prstGeom prst="rightArrow">
            <a:avLst/>
          </a:prstGeom>
          <a:solidFill>
            <a:srgbClr val="E8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7818120" y="3108960"/>
            <a:ext cx="384048" cy="457200"/>
          </a:xfrm>
          <a:prstGeom prst="rightArrow">
            <a:avLst/>
          </a:prstGeom>
          <a:solidFill>
            <a:srgbClr val="E8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A6678"/>
                </a:solidFill>
                <a:latin typeface="Calibri"/>
              </a:rPr>
              <a:t>One artifact covers both claim-signing anchors and the TSA trust list (each entry scope-tagged). Trust-list-neutral: an ARA is bound to one trust list and signed by its authority, so the design generalizes beyond C2PA. The aggregator runs daily.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TEMPORAL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The key design choice: a revocation-date-aware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16223A"/>
                </a:solidFill>
                <a:latin typeface="Calibri"/>
              </a:rPr>
              <a:t>WebPKI CRLite asks: “Is this cert revoked now?”  A revoked TLS cert just fails the handshake — no history to preserve.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E87A2D"/>
                </a:solidFill>
                <a:latin typeface="Calibri"/>
              </a:rPr>
              <a:t>C2PA must ask: “Was the cert valid at signing time T_sig, per a trusted RFC 3161 timestamp?”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6223A"/>
                </a:solidFill>
                <a:latin typeface="Calibri"/>
              </a:rPr>
              <a:t>A claim signed in 2024 by a cert revoked in 2026 must still validate — unless revocation was keyCompromise (RFC 5280 §5.3.2 implicates earlier signatures).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60520"/>
            <a:ext cx="10698480" cy="178308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315968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onsolas"/>
              </a:rPr>
              <a:t>Rule:  a cert is revoked  ⇔  an entry exists  AND  T_sig ≥ revocation_date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2DA09C"/>
                </a:solidFill>
                <a:latin typeface="Calibri"/>
              </a:rPr>
              <a:t>Store the revocation date per entry — not a yes/no membership bit. (This is also why a naive Bloom/Clubcard filter isn't a drop-in: it answers membership, not “as of when?”)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C7D0DD"/>
                </a:solidFill>
                <a:latin typeface="Calibri"/>
              </a:rPr>
              <a:t>Conservative first draft: treat all revocation reasons alike. Reason-aware handling is deferred (a reserved field) — reason codes are inconsistently populated in real CRLs.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COEXISTENCE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Backward compatibility: the coverage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5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6223A"/>
                </a:solidFill>
                <a:latin typeface="Calibri"/>
              </a:rPr>
              <a:t>Adoption is gradual — some manifests still carry an OCSP staple, some don't. The validator needs a deterministic rule for which mechanism is authoritative.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5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E87A2D"/>
                </a:solidFill>
                <a:latin typeface="Calibri"/>
              </a:rPr>
              <a:t>Key addition: the ARA enumerates which issuers it authoritatively covers, with per-issuer freshness — like CRLite's “enrolled” issuers.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5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6223A"/>
                </a:solidFill>
                <a:latin typeface="Calibri"/>
              </a:rPr>
              <a:t>Absence of an entry means “not revoked” only if the issuer is covered and fresh.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5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16223A"/>
                </a:solidFill>
                <a:latin typeface="Calibri"/>
              </a:rPr>
              <a:t>Generalizes: a validator honouring several trust lists holds several ARAs and selects by coverage set. One primitive, portable beyond C2PA.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97680"/>
            <a:ext cx="10698480" cy="17373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407408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DA09C"/>
                </a:solidFill>
                <a:latin typeface="Calibri"/>
              </a:rPr>
              <a:t>Validator decision logic</a:t>
            </a:r>
          </a:p>
          <a:p>
            <a:pPr>
              <a:spcBef>
                <a:spcPts val="500"/>
              </a:spcBef>
            </a:pPr>
            <a:r>
              <a:rPr sz="1250" b="1" i="0">
                <a:solidFill>
                  <a:srgbClr val="16223A"/>
                </a:solidFill>
                <a:latin typeface="Calibri"/>
              </a:rPr>
              <a:t>Issuer in fresh coverage set  </a:t>
            </a:r>
            <a:r>
              <a:rPr sz="1250" b="0" i="0">
                <a:solidFill>
                  <a:srgbClr val="5A6678"/>
                </a:solidFill>
                <a:latin typeface="Calibri"/>
              </a:rPr>
              <a:t>[—]  →  </a:t>
            </a:r>
            <a:r>
              <a:rPr sz="1250" b="0" i="0">
                <a:solidFill>
                  <a:srgbClr val="2E864E"/>
                </a:solidFill>
                <a:latin typeface="Calibri"/>
              </a:rPr>
              <a:t>Authoritative: revoked iff entry exists and T_sig ≥ revocation_date</a:t>
            </a:r>
          </a:p>
          <a:p>
            <a:pPr>
              <a:spcBef>
                <a:spcPts val="500"/>
              </a:spcBef>
            </a:pPr>
            <a:r>
              <a:rPr sz="1250" b="1" i="0">
                <a:solidFill>
                  <a:srgbClr val="16223A"/>
                </a:solidFill>
                <a:latin typeface="Calibri"/>
              </a:rPr>
              <a:t>In coverage set but stale  </a:t>
            </a:r>
            <a:r>
              <a:rPr sz="1250" b="0" i="0">
                <a:solidFill>
                  <a:srgbClr val="5A6678"/>
                </a:solidFill>
                <a:latin typeface="Calibri"/>
              </a:rPr>
              <a:t>[—]  →  </a:t>
            </a:r>
            <a:r>
              <a:rPr sz="1250" b="0" i="0">
                <a:solidFill>
                  <a:srgbClr val="E87A2D"/>
                </a:solidFill>
                <a:latin typeface="Calibri"/>
              </a:rPr>
              <a:t>Fail the revocation step (or local-policy fallback)</a:t>
            </a:r>
          </a:p>
          <a:p>
            <a:pPr>
              <a:spcBef>
                <a:spcPts val="500"/>
              </a:spcBef>
            </a:pPr>
            <a:r>
              <a:rPr sz="1250" b="1" i="0">
                <a:solidFill>
                  <a:srgbClr val="16223A"/>
                </a:solidFill>
                <a:latin typeface="Calibri"/>
              </a:rPr>
              <a:t>Not covered  </a:t>
            </a:r>
            <a:r>
              <a:rPr sz="1250" b="0" i="0">
                <a:solidFill>
                  <a:srgbClr val="5A6678"/>
                </a:solidFill>
                <a:latin typeface="Calibri"/>
              </a:rPr>
              <a:t>[staple present]  →  </a:t>
            </a:r>
            <a:r>
              <a:rPr sz="1250" b="0" i="0">
                <a:solidFill>
                  <a:srgbClr val="16223A"/>
                </a:solidFill>
                <a:latin typeface="Calibri"/>
              </a:rPr>
              <a:t>Use the stapled OCSP — legacy path</a:t>
            </a:r>
          </a:p>
          <a:p>
            <a:pPr>
              <a:spcBef>
                <a:spcPts val="500"/>
              </a:spcBef>
            </a:pPr>
            <a:r>
              <a:rPr sz="1250" b="1" i="0">
                <a:solidFill>
                  <a:srgbClr val="16223A"/>
                </a:solidFill>
                <a:latin typeface="Calibri"/>
              </a:rPr>
              <a:t>Not covered  </a:t>
            </a:r>
            <a:r>
              <a:rPr sz="1250" b="0" i="0">
                <a:solidFill>
                  <a:srgbClr val="5A6678"/>
                </a:solidFill>
                <a:latin typeface="Calibri"/>
              </a:rPr>
              <a:t>[no staple]  →  </a:t>
            </a:r>
            <a:r>
              <a:rPr sz="1250" b="0" i="0">
                <a:solidFill>
                  <a:srgbClr val="C0392B"/>
                </a:solidFill>
                <a:latin typeface="Calibri"/>
              </a:rPr>
              <a:t>Policy decision: refuse, or accept with a warning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Persistence: we can't forget old revocations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6223A"/>
                </a:solidFill>
                <a:latin typeface="Calibri"/>
              </a:rPr>
              <a:t>WebPKI CRLite drops an entry once the cert expires — an expired TLS cert fails anyway, no history to keep.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E87A2D"/>
                </a:solidFill>
                <a:latin typeface="Calibri"/>
              </a:rPr>
              <a:t>C2PA validates against T_sig, possibly years later — so a revocation record must be retained as long as old signatures must verify. The list is append-mostly and grows monotonically.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6223A"/>
                </a:solidFill>
                <a:latin typeface="Calibri"/>
              </a:rPr>
              <a:t>But the scale is modest: only revoked certs are stored; ~50 bytes/entry. Even 10,000 lifetime revocations ≈ 0.5 MB — 1000× below the WebPKI's ~4M.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97680"/>
            <a:ext cx="10698480" cy="16459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43484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DA09C"/>
                </a:solidFill>
                <a:latin typeface="Calibri"/>
              </a:rPr>
              <a:t>Proposed model: segment by certificate expiry</a:t>
            </a:r>
          </a:p>
          <a:p>
            <a:pPr>
              <a:spcBef>
                <a:spcPts val="500"/>
              </a:spcBef>
            </a:pPr>
            <a:r>
              <a:rPr sz="1400" b="1" i="0">
                <a:solidFill>
                  <a:srgbClr val="E87A2D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6223A"/>
                </a:solidFill>
                <a:latin typeface="Calibri"/>
              </a:rPr>
              <a:t>Active segment — revocations for not-yet-expired certs; small, changes daily, fetched frequently.</a:t>
            </a:r>
          </a:p>
          <a:p>
            <a:pPr>
              <a:spcBef>
                <a:spcPts val="500"/>
              </a:spcBef>
            </a:pPr>
            <a:r>
              <a:rPr sz="1400" b="1" i="0">
                <a:solidFill>
                  <a:srgbClr val="E87A2D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6223A"/>
                </a:solidFill>
                <a:latin typeface="Calibri"/>
              </a:rPr>
              <a:t>Immutable archive — once a cert expires its record is frozen; move it to an append-only archive, published once and cached indefinitely. Bounds recurring bandwidth even as the all-time list grows.</a:t>
            </a:r>
          </a:p>
          <a:p>
            <a:pPr>
              <a:spcBef>
                <a:spcPts val="500"/>
              </a:spcBef>
            </a:pPr>
            <a:r>
              <a:rPr sz="1400" b="1" i="0">
                <a:solidFill>
                  <a:srgbClr val="E87A2D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6223A"/>
                </a:solidFill>
                <a:latin typeface="Calibri"/>
              </a:rPr>
              <a:t>Compression (Bloom/Clubcard) only matters if the active segment gets huge — and would need a date side-table to keep the temporal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Artifact format — CBOR + COSE_Sign1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6309360" cy="411480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83664"/>
            <a:ext cx="59436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ara = {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  version:         uint,        ; 1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  trust-list-id:   tstr,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  generated-at:    ~time,       ; epoch secs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  next-update:     ~time,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  ? partial:       bool,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  covered-issuers: [* coverage],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  entries:         [* revocation],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coverage = {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  scope, issuer-ski: bstr,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  last-crl-update: ~time, ? status: tstr,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revocation = {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  scope, issuer-ski: bstr,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  serial: bstr, revocation-date: ~time,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  ? reason: uint,               ; reserved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E6ECF2"/>
                </a:solidFill>
                <a:latin typeface="Consolas"/>
              </a:rPr>
              <a:t>scope = &amp;(anchors: 0, tsa: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7830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16223A"/>
                </a:solidFill>
                <a:latin typeface="Calibri"/>
              </a:rPr>
              <a:t>Normative: CBOR signed as COSE_Sign1 — compact, matches C2PA's COSE/CBOR conventions.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6678"/>
                </a:solidFill>
                <a:latin typeface="Calibri"/>
              </a:rPr>
              <a:t>–  bstr SKI/serial + epoch-second dates — ~half the size of the hex/ISO JSON form.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16223A"/>
                </a:solidFill>
                <a:latin typeface="Calibri"/>
              </a:rPr>
              <a:t>JSON kept only as a debug projection (Appendix A).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16223A"/>
                </a:solidFill>
                <a:latin typeface="Calibri"/>
              </a:rPr>
              <a:t>issuer_ski over issuer DN — short, unambiguous, matches the AKI the validator already holds.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16223A"/>
                </a:solidFill>
                <a:latin typeface="Calibri"/>
              </a:rPr>
              <a:t>scope tags claim-signing (anchors) vs. TSA revocations — on both entries and coverage.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6223A"/>
                </a:solidFill>
                <a:latin typeface="Calibri"/>
              </a:rPr>
              <a:t>Publisher key: demo key for the PoC; the trust list authority's well-known key in 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AT VERIFICATION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Validation procedure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755648"/>
            <a:ext cx="512064" cy="512064"/>
          </a:xfrm>
          <a:prstGeom prst="ellipse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170078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 i="0">
                <a:solidFill>
                  <a:srgbClr val="16223A"/>
                </a:solidFill>
                <a:latin typeface="Calibri"/>
              </a:rPr>
              <a:t>Load &amp; verify the artifact(s)   </a:t>
            </a:r>
            <a:r>
              <a:rPr sz="1350" b="0" i="0">
                <a:solidFill>
                  <a:srgbClr val="5A6678"/>
                </a:solidFill>
                <a:latin typeface="Calibri"/>
              </a:rPr>
              <a:t>Check the publisher signature; require now ≤ next_update + grace. If stale, fail the revocation step.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87168"/>
            <a:ext cx="512064" cy="512064"/>
          </a:xfrm>
          <a:prstGeom prst="ellipse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43230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 i="0">
                <a:solidFill>
                  <a:srgbClr val="16223A"/>
                </a:solidFill>
                <a:latin typeface="Calibri"/>
              </a:rPr>
              <a:t>Identify the cert &amp; its issuer   </a:t>
            </a:r>
            <a:r>
              <a:rPr sz="1350" b="0" i="0">
                <a:solidFill>
                  <a:srgbClr val="5A6678"/>
                </a:solidFill>
                <a:latin typeface="Calibri"/>
              </a:rPr>
              <a:t>Extract the leaf from the COSE signature; find its issuer via the AKI extension.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8688"/>
            <a:ext cx="512064" cy="512064"/>
          </a:xfrm>
          <a:prstGeom prst="ellipse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316382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 i="0">
                <a:solidFill>
                  <a:srgbClr val="16223A"/>
                </a:solidFill>
                <a:latin typeface="Calibri"/>
              </a:rPr>
              <a:t>Select the ARA by coverage set   </a:t>
            </a:r>
            <a:r>
              <a:rPr sz="1350" b="0" i="0">
                <a:solidFill>
                  <a:srgbClr val="5A6678"/>
                </a:solidFill>
                <a:latin typeface="Calibri"/>
              </a:rPr>
              <a:t>Pick the ARA whose covered-issuers contains this issuer. Not covered → legacy staple, else policy.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0208"/>
            <a:ext cx="512064" cy="512064"/>
          </a:xfrm>
          <a:prstGeom prst="ellipse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89534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 i="0">
                <a:solidFill>
                  <a:srgbClr val="16223A"/>
                </a:solidFill>
                <a:latin typeface="Calibri"/>
              </a:rPr>
              <a:t>Determine T_sig   </a:t>
            </a:r>
            <a:r>
              <a:rPr sz="1350" b="0" i="0">
                <a:solidFill>
                  <a:srgbClr val="5A6678"/>
                </a:solidFill>
                <a:latin typeface="Calibri"/>
              </a:rPr>
              <a:t>From the embedded sigTst2 RFC 3161 timestamp (TSA on the C2PA TSA Trust List).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681728"/>
            <a:ext cx="512064" cy="512064"/>
          </a:xfrm>
          <a:prstGeom prst="ellipse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462686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 i="0">
                <a:solidFill>
                  <a:srgbClr val="16223A"/>
                </a:solidFill>
                <a:latin typeface="Calibri"/>
              </a:rPr>
              <a:t>Look up (issuer_ski, serial)   </a:t>
            </a:r>
            <a:r>
              <a:rPr sz="1350" b="0" i="0">
                <a:solidFill>
                  <a:srgbClr val="5A6678"/>
                </a:solidFill>
                <a:latin typeface="Calibri"/>
              </a:rPr>
              <a:t>Among scope == “anchors” entries. If found and T_sig ≥ revocation_date → revoked → fail.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413248"/>
            <a:ext cx="512064" cy="512064"/>
          </a:xfrm>
          <a:prstGeom prst="ellipse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535838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 i="0">
                <a:solidFill>
                  <a:srgbClr val="16223A"/>
                </a:solidFill>
                <a:latin typeface="Calibri"/>
              </a:rPr>
              <a:t>Repeat for the TSA cert   </a:t>
            </a:r>
            <a:r>
              <a:rPr sz="1350" b="0" i="0">
                <a:solidFill>
                  <a:srgbClr val="5A6678"/>
                </a:solidFill>
                <a:latin typeface="Calibri"/>
              </a:rPr>
              <a:t>Same coverage + lookup against scope == “tsa” entries.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904" y="61447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1">
                <a:solidFill>
                  <a:srgbClr val="E87A2D"/>
                </a:solidFill>
                <a:latin typeface="Calibri"/>
              </a:rPr>
              <a:t>No trusted timestamp?  Fall back to T_sig = now — any later revocation invalidates (current C2PA practice).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OPERATIONAL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Freshness &amp; relation to OCSP stapling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16223A"/>
                </a:solidFill>
                <a:latin typeface="Calibri"/>
              </a:rPr>
              <a:t>Aggregator runs daily — a fresh artifact each run.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16223A"/>
                </a:solidFill>
                <a:latin typeface="Calibri"/>
              </a:rPr>
              <a:t>next_update = generated_at + 7 days, matching typical CA CRL semantics.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16223A"/>
                </a:solidFill>
                <a:latin typeface="Calibri"/>
              </a:rPr>
              <a:t>Validators allow a grace_window past next_update before treating it stale.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5A6678"/>
                </a:solidFill>
                <a:latin typeface="Calibri"/>
              </a:rPr>
              <a:t>–  PoC: grace_window = 30 days → ~37 days total tolerance. All tunable; a WG conversation.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69080"/>
            <a:ext cx="10698480" cy="1874519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224528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DA09C"/>
                </a:solidFill>
                <a:latin typeface="Calibri"/>
              </a:rPr>
              <a:t>Intent: replace OCSP stapling for covered issuers</a:t>
            </a:r>
          </a:p>
          <a:p>
            <a:pPr>
              <a:spcBef>
                <a:spcPts val="600"/>
              </a:spcBef>
            </a:pPr>
            <a:r>
              <a:rPr sz="1500" b="1" i="0">
                <a:solidFill>
                  <a:srgbClr val="E87A2D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223A"/>
                </a:solidFill>
                <a:latin typeface="Calibri"/>
              </a:rPr>
              <a:t>For a covered issuer, clients sign without contacting any OCSP responder; validators rely on the artifact.</a:t>
            </a:r>
          </a:p>
          <a:p>
            <a:pPr>
              <a:spcBef>
                <a:spcPts val="600"/>
              </a:spcBef>
            </a:pPr>
            <a:r>
              <a:rPr sz="1500" b="1" i="0">
                <a:solidFill>
                  <a:srgbClr val="E87A2D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223A"/>
                </a:solidFill>
                <a:latin typeface="Calibri"/>
              </a:rPr>
              <a:t>During the transition the two coexist — the coverage set decides which is authoritative (see backward-compat).</a:t>
            </a:r>
          </a:p>
          <a:p>
            <a:pPr>
              <a:spcBef>
                <a:spcPts val="600"/>
              </a:spcBef>
            </a:pPr>
            <a:r>
              <a:rPr sz="1500" b="1" i="0">
                <a:solidFill>
                  <a:srgbClr val="E87A2D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223A"/>
                </a:solidFill>
                <a:latin typeface="Calibri"/>
              </a:rPr>
              <a:t>Fallback: certs whose issuer is not covered — use the stapled OCSP if present, else local policy.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Proof of concept — what's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56432" cy="35661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456432" cy="109728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30540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16223A"/>
                </a:solidFill>
                <a:latin typeface="Consolas"/>
              </a:rPr>
              <a:t>aggregator/</a:t>
            </a:r>
          </a:p>
          <a:p>
            <a:r>
              <a:rPr sz="1300" b="1" i="0">
                <a:solidFill>
                  <a:srgbClr val="E87A2D"/>
                </a:solidFill>
                <a:latin typeface="Calibri"/>
              </a:rPr>
              <a:t>Rust binary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DA09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6223A"/>
                </a:solidFill>
                <a:latin typeface="Calibri"/>
              </a:rPr>
              <a:t>Takes anchor + TSA PEM bundles (file or URL)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DA09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6223A"/>
                </a:solidFill>
                <a:latin typeface="Calibri"/>
              </a:rPr>
              <a:t>x509-parser → CDP → download &amp; parse CRLs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DA09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6223A"/>
                </a:solidFill>
                <a:latin typeface="Calibri"/>
              </a:rPr>
              <a:t>Dedups; emits signed artifact + keys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DA09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6223A"/>
                </a:solidFill>
                <a:latin typeface="Calibri"/>
              </a:rPr>
              <a:t>--inject-entries for synthetic test scenarios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456432" cy="35661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456432" cy="109728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2103120"/>
            <a:ext cx="30540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16223A"/>
                </a:solidFill>
                <a:latin typeface="Consolas"/>
              </a:rPr>
              <a:t>validator/</a:t>
            </a:r>
          </a:p>
          <a:p>
            <a:r>
              <a:rPr sz="1300" b="1" i="0">
                <a:solidFill>
                  <a:srgbClr val="E87A2D"/>
                </a:solidFill>
                <a:latin typeface="Calibri"/>
              </a:rPr>
              <a:t>c2pa-rs wrapper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DA09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6223A"/>
                </a:solidFill>
                <a:latin typeface="Calibri"/>
              </a:rPr>
              <a:t>Normal C2PA validation via c2pa-rs Reader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DA09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6223A"/>
                </a:solidFill>
                <a:latin typeface="Calibri"/>
              </a:rPr>
              <a:t>Verifies artifact signature + freshness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DA09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6223A"/>
                </a:solidFill>
                <a:latin typeface="Calibri"/>
              </a:rPr>
              <a:t>Extracts leaf AKI+serial and T_sig from sigTst2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DA09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6223A"/>
                </a:solidFill>
                <a:latin typeface="Calibri"/>
              </a:rPr>
              <a:t>Post-processes the revocation check locally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456432" cy="35661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456432" cy="109728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2103120"/>
            <a:ext cx="30540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16223A"/>
                </a:solidFill>
                <a:latin typeface="Consolas"/>
              </a:rPr>
              <a:t>sample/  +  demo/</a:t>
            </a:r>
          </a:p>
          <a:p>
            <a:r>
              <a:rPr sz="1300" b="1" i="0">
                <a:solidFill>
                  <a:srgbClr val="E87A2D"/>
                </a:solidFill>
                <a:latin typeface="Calibri"/>
              </a:rPr>
              <a:t>End-to-end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DA09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6223A"/>
                </a:solidFill>
                <a:latin typeface="Calibri"/>
              </a:rPr>
              <a:t>Built from the live C2PA + interim trust lists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DA09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6223A"/>
                </a:solidFill>
                <a:latin typeface="Calibri"/>
              </a:rPr>
              <a:t>Signs / validates c2pa-rs CA.jpg fixture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DA09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6223A"/>
                </a:solidFill>
                <a:latin typeface="Calibri"/>
              </a:rPr>
              <a:t>Clean run → pass; injected run → temporal fail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DA09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6223A"/>
                </a:solidFill>
                <a:latin typeface="Calibri"/>
              </a:rPr>
              <a:t>Single run.sh drives the whole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1">
                <a:solidFill>
                  <a:srgbClr val="5A6678"/>
                </a:solidFill>
                <a:latin typeface="Calibri"/>
              </a:rPr>
              <a:t>All Rust; wraps c2pa-rs. Scoped to the flat-list form. v0.2 note: code still emits signed JSON — CBOR/COSE_Sign1 + coverage set is the next code step.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Demo results — both temporal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698480" cy="1143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6223A"/>
                </a:solidFill>
                <a:latin typeface="Calibri"/>
              </a:rPr>
              <a:t>CLEAN artifact — validate CA.jpg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6223A"/>
                </a:solidFill>
                <a:latin typeface="Calibri"/>
              </a:rPr>
              <a:t>Claim-signing cert:  </a:t>
            </a:r>
            <a:r>
              <a:rPr sz="1400" b="1" i="0">
                <a:solidFill>
                  <a:srgbClr val="2E864E"/>
                </a:solidFill>
                <a:latin typeface="Calibri"/>
              </a:rPr>
              <a:t>PASS</a:t>
            </a:r>
            <a:r>
              <a:rPr sz="1400" b="0" i="0">
                <a:solidFill>
                  <a:srgbClr val="16223A"/>
                </a:solidFill>
                <a:latin typeface="Calibri"/>
              </a:rPr>
              <a:t>  (not in artifact)        TSA cert:  </a:t>
            </a:r>
            <a:r>
              <a:rPr sz="1400" b="1" i="0">
                <a:solidFill>
                  <a:srgbClr val="2E864E"/>
                </a:solidFill>
                <a:latin typeface="Calibri"/>
              </a:rPr>
              <a:t>PASS</a:t>
            </a:r>
            <a:r>
              <a:rPr sz="1400" b="0" i="0">
                <a:solidFill>
                  <a:srgbClr val="16223A"/>
                </a:solidFill>
                <a:latin typeface="Calibri"/>
              </a:rPr>
              <a:t>  (not in artifact)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54680"/>
            <a:ext cx="10698480" cy="169164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310128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INJECTED artifact — synthetic entries targeting CA.jpg's exact (issuer SKI, serial)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Claim-signing cert:  </a:t>
            </a:r>
            <a:r>
              <a:rPr sz="1400" b="1" i="0">
                <a:solidFill>
                  <a:srgbClr val="F18B82"/>
                </a:solidFill>
                <a:latin typeface="Calibri"/>
              </a:rPr>
              <a:t>FAIL</a:t>
            </a:r>
            <a:r>
              <a:rPr sz="1400" b="0" i="0">
                <a:solidFill>
                  <a:srgbClr val="C7D0DD"/>
                </a:solidFill>
                <a:latin typeface="Calibri"/>
              </a:rPr>
              <a:t>  revoked 2020-01-01, before signing time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TSA cert:                  </a:t>
            </a:r>
            <a:r>
              <a:rPr sz="1400" b="1" i="0">
                <a:solidFill>
                  <a:srgbClr val="8ED6A8"/>
                </a:solidFill>
                <a:latin typeface="Calibri"/>
              </a:rPr>
              <a:t>PASS</a:t>
            </a:r>
            <a:r>
              <a:rPr sz="1400" b="0" i="0">
                <a:solidFill>
                  <a:srgbClr val="C7D0DD"/>
                </a:solidFill>
                <a:latin typeface="Calibri"/>
              </a:rPr>
              <a:t>  revoked 2025-06-01, after signing time — signed while still valid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87A2D"/>
                </a:solidFill>
                <a:latin typeface="Calibri"/>
              </a:rPr>
              <a:t>→ The TSA-passes case is the whole point: a signature made before revocation stays valid; a cert revoked before signing time fails. The date-aware model behaves correctly on both paths.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TRUST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Security &amp; privacy considerations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6223A"/>
                </a:solidFill>
                <a:latin typeface="Calibri"/>
              </a:rPr>
              <a:t>Centralization — the artifact's authority equals the trust-list publisher's. Same trust assumption already made for the trust list; no enlarged attack surface.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6223A"/>
                </a:solidFill>
                <a:latin typeface="Calibri"/>
              </a:rPr>
              <a:t>Stale artifact / replay — mitigated by the signed generated_at + freshness window; validators MUST NOT accept an older artifact once a newer one is seen.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E87A2D"/>
                </a:solidFill>
                <a:latin typeface="Calibri"/>
              </a:rPr>
              <a:t>Coverage-set downgrade — absence-of-entry is only trustworthy for covered issuers; the coverage set is inside the signed artifact, so shrinking it requires breaking the signature.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6223A"/>
                </a:solidFill>
                <a:latin typeface="Calibri"/>
              </a:rPr>
              <a:t>CDP unavailable at aggregation — warn, retain last good CRL, mark the issuer stale + partial: true.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2E864E"/>
                </a:solidFill>
                <a:latin typeface="Calibri"/>
              </a:rPr>
              <a:t>Validator privacy — no OCSP calls at validation time eliminates the leak of viewing/validation patterns to issuing 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HONEST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Known gaps — to address before this is more than a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E87A2D"/>
                </a:solidFill>
                <a:latin typeface="Calibri"/>
              </a:rPr>
              <a:t>CBOR / COSE_Sign1 + coverage set in code. v0.2 specifies them; the PoC still emits signed JSON with no coverage set. This is the next code step.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6223A"/>
                </a:solidFill>
                <a:latin typeface="Calibri"/>
              </a:rPr>
              <a:t>Intermediate-cert coverage. Most anchors are self-signed roots with no CDP — only ~7 of 47 had a fetchable CRL. Real revocation data lives on intermediates &amp; EE certs.</a:t>
            </a:r>
          </a:p>
          <a:p>
            <a:pPr lvl="1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5A6678"/>
                </a:solidFill>
                <a:latin typeface="Calibri"/>
              </a:rPr>
              <a:t>–  Sourcing options: certs already in bundles · harvest x5chains from signed assets (CT-style) · AIA chasing · CA repositories.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6223A"/>
                </a:solidFill>
                <a:latin typeface="Calibri"/>
              </a:rPr>
              <a:t>Broad-CA noise. Feeding allowed.pem inflates the artifact from ~36 to ~101,840 entries — mostly non-C2PA revocations (e.g. ~36.9k Sectigo) via shared CRLs. Production must filter to the C2PA universe.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6223A"/>
                </a:solidFill>
                <a:latin typeface="Calibri"/>
              </a:rPr>
              <a:t>TSA cert resolution. Currently a “first cert in SignedData” heuristic; production should resolve via SignerInfo.sid.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6223A"/>
                </a:solidFill>
                <a:latin typeface="Calibri"/>
              </a:rPr>
              <a:t>Test-cert minter. A helper that mints a fresh CA + EE + CRL, so demos don't pin to existing fixtures.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A09C"/>
                </a:solidFill>
                <a:latin typeface="Calibri"/>
              </a:rPr>
              <a:t>PATH TO NORMATIVE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223A"/>
                </a:solidFill>
                <a:latin typeface="Calibri"/>
              </a:rPr>
              <a:t>What a future spec change would touch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794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6223A"/>
                </a:solidFill>
                <a:latin typeface="Calibri"/>
              </a:rPr>
              <a:t>§13/§14 (signing) — permit omitting the stapled OCSP response when the issuer is covered by an ARA.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6223A"/>
                </a:solidFill>
                <a:latin typeface="Calibri"/>
              </a:rPr>
              <a:t>§15.9 (validate revocation info) — define the ARA procedure, incl. coverage-set / staple fallback, as a permitted means of the revocation check.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6223A"/>
                </a:solidFill>
                <a:latin typeface="Calibri"/>
              </a:rPr>
              <a:t>New §14.x (revocation artifact) — format, signing, publication-URL convention, coverage-set + freshness semantics.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DA09C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6223A"/>
                </a:solidFill>
                <a:latin typeface="Calibri"/>
              </a:rPr>
              <a:t>Trust-list metadata — companion artifact at a sibling URL (e.g. &lt;trust-list&gt;-revocation.cbor).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97680"/>
            <a:ext cx="10698480" cy="16459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43484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DA09C"/>
                </a:solidFill>
                <a:latin typeface="Calibri"/>
              </a:rPr>
              <a:t>Design-level extensions (WG discussion)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E87A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223A"/>
                </a:solidFill>
                <a:latin typeface="Calibri"/>
              </a:rPr>
              <a:t>Reason-aware variant — differentiate keyCompromise from softer reasons, once issuers populate reason codes reliably.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E87A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223A"/>
                </a:solidFill>
                <a:latin typeface="Calibri"/>
              </a:rPr>
              <a:t>Active/archive segmentation · Clubcard / cascade compression · delta artifacts — all only matter at much larger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678"/>
                </a:solidFill>
                <a:latin typeface="Calibri"/>
              </a:rPr>
              <a:t>Aggregated Revocation Artifact (ARA)  ·  draft 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A667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73152"/>
          </a:xfrm>
          <a:prstGeom prst="rect">
            <a:avLst/>
          </a:prstGeom>
          <a:solidFill>
            <a:srgbClr val="2DA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32142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 dirty="0">
                <a:solidFill>
                  <a:srgbClr val="2DA09C"/>
                </a:solidFill>
                <a:latin typeface="Calibri"/>
              </a:rPr>
              <a:t>→  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Is offline, signed revocation an attractive direction for C2PA to standardize?</a:t>
            </a:r>
          </a:p>
          <a:p>
            <a:pPr>
              <a:spcAft>
                <a:spcPts val="1000"/>
              </a:spcAft>
            </a:pPr>
            <a:r>
              <a:rPr sz="1800" b="1" i="0" dirty="0">
                <a:solidFill>
                  <a:srgbClr val="2DA09C"/>
                </a:solidFill>
                <a:latin typeface="Calibri"/>
              </a:rPr>
              <a:t>→  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Comfort with the revocation-date-aware (vs. reason-aware) model for a first draft?</a:t>
            </a:r>
          </a:p>
          <a:p>
            <a:pPr>
              <a:spcAft>
                <a:spcPts val="1000"/>
              </a:spcAft>
            </a:pPr>
            <a:r>
              <a:rPr sz="1800" b="1" i="0" dirty="0">
                <a:solidFill>
                  <a:srgbClr val="2DA09C"/>
                </a:solidFill>
                <a:latin typeface="Calibri"/>
              </a:rPr>
              <a:t>→  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Does the coverage-set approach to OCSP coexistence / multi-trust-list use feel right?</a:t>
            </a:r>
          </a:p>
          <a:p>
            <a:pPr>
              <a:spcAft>
                <a:spcPts val="1000"/>
              </a:spcAft>
            </a:pPr>
            <a:r>
              <a:rPr sz="1800" b="1" i="0" dirty="0">
                <a:solidFill>
                  <a:srgbClr val="2DA09C"/>
                </a:solidFill>
                <a:latin typeface="Calibri"/>
              </a:rPr>
              <a:t>→  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Where should intermediate certs come from — harvest from signed assets, or formalize via the conformance program?</a:t>
            </a:r>
          </a:p>
          <a:p>
            <a:pPr>
              <a:spcAft>
                <a:spcPts val="1000"/>
              </a:spcAft>
            </a:pPr>
            <a:r>
              <a:rPr sz="1800" b="1" i="0" dirty="0">
                <a:solidFill>
                  <a:srgbClr val="2DA09C"/>
                </a:solidFill>
                <a:latin typeface="Calibri"/>
              </a:rPr>
              <a:t>→  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Freshness parameters: daily aggregation, 7-day </a:t>
            </a:r>
            <a:r>
              <a:rPr sz="1700" b="0" i="0" dirty="0" err="1">
                <a:solidFill>
                  <a:srgbClr val="FFFFFF"/>
                </a:solidFill>
                <a:latin typeface="Calibri"/>
              </a:rPr>
              <a:t>next_update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, 30-day grace — right ballpark?</a:t>
            </a:r>
          </a:p>
          <a:p>
            <a:pPr>
              <a:spcAft>
                <a:spcPts val="1000"/>
              </a:spcAft>
            </a:pPr>
            <a:r>
              <a:rPr sz="1800" b="1" i="0" dirty="0">
                <a:solidFill>
                  <a:srgbClr val="2DA09C"/>
                </a:solidFill>
                <a:latin typeface="Calibri"/>
              </a:rPr>
              <a:t>→  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Appetite to take this from exploration toward a spec change?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3027</Words>
  <Application>Microsoft Office PowerPoint</Application>
  <PresentationFormat>Widescreen</PresentationFormat>
  <Paragraphs>240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Christian Paquin</cp:lastModifiedBy>
  <cp:revision>2</cp:revision>
  <dcterms:created xsi:type="dcterms:W3CDTF">2013-01-27T09:14:16Z</dcterms:created>
  <dcterms:modified xsi:type="dcterms:W3CDTF">2026-06-12T01:40:37Z</dcterms:modified>
  <cp:category/>
</cp:coreProperties>
</file>